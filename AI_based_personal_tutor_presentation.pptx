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Personal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Concept, Features, Architecture, and Key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Introduction</a:t>
            </a:r>
          </a:p>
          <a:p>
            <a:pPr/>
            <a:r>
              <a:t>2. What is an AI-based Personal Tutor?</a:t>
            </a:r>
          </a:p>
          <a:p>
            <a:pPr/>
            <a:r>
              <a:t>3. Key Features</a:t>
            </a:r>
          </a:p>
          <a:p>
            <a:pPr/>
            <a:r>
              <a:t>4. System Architecture</a:t>
            </a:r>
          </a:p>
          <a:p>
            <a:pPr/>
            <a:r>
              <a:t>5. Data Flow</a:t>
            </a:r>
          </a:p>
          <a:p>
            <a:pPr/>
            <a:r>
              <a:t>6. Libraries and Technologies Used</a:t>
            </a:r>
          </a:p>
          <a:p>
            <a:pPr/>
            <a:r>
              <a:t>7. Machine Learning Models</a:t>
            </a:r>
          </a:p>
          <a:p>
            <a:pPr/>
            <a:r>
              <a:t>8. User Interface Design</a:t>
            </a:r>
          </a:p>
          <a:p>
            <a:pPr/>
            <a:r>
              <a:t>9. Deployment Options</a:t>
            </a:r>
          </a:p>
          <a:p>
            <a:pPr/>
            <a:r>
              <a:t>10. Challenges</a:t>
            </a:r>
          </a:p>
          <a:p>
            <a:pPr/>
            <a:r>
              <a:t>11. Future Scope</a:t>
            </a:r>
          </a:p>
          <a:p>
            <a:pPr/>
            <a:r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need for personalized learning</a:t>
            </a:r>
          </a:p>
          <a:p>
            <a:pPr lvl="1"/>
            <a:r>
              <a:t>AI enables adaptive teaching experiences</a:t>
            </a:r>
          </a:p>
          <a:p>
            <a:pPr lvl="1"/>
            <a:r>
              <a:t>24×7 support and customized study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AI-based Personal Tutor?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that adapts to student learning patterns</a:t>
            </a:r>
          </a:p>
          <a:p>
            <a:pPr lvl="1"/>
            <a:r>
              <a:t>Provides explanations, feedback, and practice problems</a:t>
            </a:r>
          </a:p>
          <a:p>
            <a:pPr lvl="1"/>
            <a:r>
              <a:t>Uses NLP, ML, and knowledge graphs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learning</a:t>
            </a:r>
          </a:p>
          <a:p>
            <a:pPr lvl="1"/>
            <a:r>
              <a:t>Personalized recommendations</a:t>
            </a:r>
          </a:p>
          <a:p>
            <a:pPr lvl="1"/>
            <a:r>
              <a:t>Performance tracking</a:t>
            </a:r>
          </a:p>
          <a:p>
            <a:pPr lvl="1"/>
            <a:r>
              <a:t>Interactive Q&amp;A</a:t>
            </a:r>
          </a:p>
          <a:p>
            <a:pPr lvl="1"/>
            <a:r>
              <a:t>Content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module</a:t>
            </a:r>
          </a:p>
          <a:p>
            <a:pPr lvl="1"/>
            <a:r>
              <a:t>AI Engine (NLP + ML models)</a:t>
            </a:r>
          </a:p>
          <a:p>
            <a:pPr lvl="1"/>
            <a:r>
              <a:t>Recommendation system</a:t>
            </a:r>
          </a:p>
          <a:p>
            <a:pPr lvl="1"/>
            <a:r>
              <a:t>Database &amp;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→ NLP Model → Intent Recognition</a:t>
            </a:r>
          </a:p>
          <a:p>
            <a:pPr lvl="1"/>
            <a:r>
              <a:t>Query processed → Knowledge Base</a:t>
            </a:r>
          </a:p>
          <a:p>
            <a:pPr lvl="1"/>
            <a:r>
              <a:t>Tutor generates personalized response</a:t>
            </a:r>
          </a:p>
          <a:p>
            <a:pPr lvl="1"/>
            <a:r>
              <a:t>Performance data stored for future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NLP: Transformers, spaCy</a:t>
            </a:r>
          </a:p>
          <a:p>
            <a:pPr lvl="1"/>
            <a:r>
              <a:t>Machine Learning: scikit-learn, TensorFlow/PyTorch</a:t>
            </a:r>
          </a:p>
          <a:p>
            <a:pPr lvl="1"/>
            <a:r>
              <a:t>Backend: FastAPI/Flask, Node.js</a:t>
            </a:r>
          </a:p>
          <a:p>
            <a:pPr lvl="1"/>
            <a:r>
              <a:t>Database: PostgreSQL, MongoDB</a:t>
            </a:r>
          </a:p>
          <a:p>
            <a:pPr lvl="1"/>
            <a:r>
              <a:t>Frontend: React, Flutter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for natural language understanding</a:t>
            </a:r>
          </a:p>
          <a:p>
            <a:pPr lvl="1"/>
            <a:r>
              <a:t>Recommendation models for adaptive learning</a:t>
            </a:r>
          </a:p>
          <a:p>
            <a:pPr lvl="1"/>
            <a:r>
              <a:t>Classification models for difficulty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Minimal, intuitive layout</a:t>
            </a:r>
          </a:p>
          <a:p>
            <a:pPr lvl="1"/>
            <a:r>
              <a:t>Interactive chat-based interface</a:t>
            </a:r>
          </a:p>
          <a:p>
            <a:pPr lvl="1"/>
            <a:r>
              <a:t>Progress dashboard and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deployment (AWS, GCP, Azure)</a:t>
            </a:r>
          </a:p>
          <a:p>
            <a:pPr lvl="1"/>
            <a:r>
              <a:t>On-device models</a:t>
            </a:r>
          </a:p>
          <a:p>
            <a:pPr lvl="1"/>
            <a:r>
              <a:t>Hybrid deployment for cost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&amp; security</a:t>
            </a:r>
          </a:p>
          <a:p>
            <a:pPr lvl="1"/>
            <a:r>
              <a:t>Bias in ML models</a:t>
            </a:r>
          </a:p>
          <a:p>
            <a:pPr lvl="1"/>
            <a:r>
              <a:t>High computational cost</a:t>
            </a:r>
          </a:p>
          <a:p>
            <a:pPr lvl="1"/>
            <a:r>
              <a:t>Content accuracy and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autonomous tutoring agents</a:t>
            </a:r>
          </a:p>
          <a:p>
            <a:pPr lvl="1"/>
            <a:r>
              <a:t>VR/AR immersive learning</a:t>
            </a:r>
          </a:p>
          <a:p>
            <a:pPr lvl="1"/>
            <a:r>
              <a:t>More accurate student modeling</a:t>
            </a:r>
          </a:p>
          <a:p>
            <a:pPr lvl="1"/>
            <a:r>
              <a:t>Multilingual global tutoring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tutors transform personalized education</a:t>
            </a:r>
          </a:p>
          <a:p>
            <a:pPr lvl="1"/>
            <a:r>
              <a:t>Scalable, accessible learning for all</a:t>
            </a:r>
          </a:p>
          <a:p>
            <a:pPr lvl="1"/>
            <a:r>
              <a:t>Future innovations promise greater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